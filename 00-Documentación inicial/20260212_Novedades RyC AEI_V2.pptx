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85" r:id="rId5"/>
    <p:sldId id="297" r:id="rId6"/>
    <p:sldId id="341" r:id="rId7"/>
    <p:sldId id="320" r:id="rId8"/>
    <p:sldId id="319" r:id="rId9"/>
    <p:sldId id="298" r:id="rId10"/>
    <p:sldId id="332" r:id="rId11"/>
    <p:sldId id="321" r:id="rId12"/>
    <p:sldId id="334" r:id="rId13"/>
    <p:sldId id="335" r:id="rId14"/>
    <p:sldId id="339" r:id="rId15"/>
    <p:sldId id="340" r:id="rId16"/>
    <p:sldId id="324" r:id="rId17"/>
    <p:sldId id="337" r:id="rId18"/>
    <p:sldId id="325" r:id="rId19"/>
    <p:sldId id="336" r:id="rId20"/>
    <p:sldId id="329" r:id="rId21"/>
    <p:sldId id="330" r:id="rId2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on" id="{398FB420-F23B-44CA-BDB7-1178D3DE97C4}">
          <p14:sldIdLst>
            <p14:sldId id="285"/>
            <p14:sldId id="297"/>
            <p14:sldId id="341"/>
            <p14:sldId id="320"/>
            <p14:sldId id="319"/>
            <p14:sldId id="298"/>
            <p14:sldId id="332"/>
            <p14:sldId id="321"/>
            <p14:sldId id="334"/>
            <p14:sldId id="335"/>
            <p14:sldId id="339"/>
            <p14:sldId id="340"/>
            <p14:sldId id="324"/>
            <p14:sldId id="337"/>
            <p14:sldId id="325"/>
            <p14:sldId id="336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61C"/>
    <a:srgbClr val="821317"/>
    <a:srgbClr val="7C1517"/>
    <a:srgbClr val="BE1A1F"/>
    <a:srgbClr val="0B3E91"/>
    <a:srgbClr val="DAE3F4"/>
    <a:srgbClr val="FFDB00"/>
    <a:srgbClr val="5D6899"/>
    <a:srgbClr val="7A84AE"/>
    <a:srgbClr val="929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C63D9-4876-4EF4-971D-C831F4B1C39E}" v="10" dt="2026-02-17T15:24:31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98" autoAdjust="0"/>
    <p:restoredTop sz="94617"/>
  </p:normalViewPr>
  <p:slideViewPr>
    <p:cSldViewPr snapToGrid="0">
      <p:cViewPr varScale="1">
        <p:scale>
          <a:sx n="97" d="100"/>
          <a:sy n="97" d="100"/>
        </p:scale>
        <p:origin x="576" y="3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ández de Labastida del Olmo, José Manuel" userId="3d0ed8c1-c201-4636-b68f-76e453f8a3b1" providerId="ADAL" clId="{B60F7AA1-DB91-495B-BF50-67D5A1E50CED}"/>
    <pc:docChg chg="undo custSel modSld">
      <pc:chgData name="Fernández de Labastida del Olmo, José Manuel" userId="3d0ed8c1-c201-4636-b68f-76e453f8a3b1" providerId="ADAL" clId="{B60F7AA1-DB91-495B-BF50-67D5A1E50CED}" dt="2026-02-17T15:24:31.075" v="21" actId="207"/>
      <pc:docMkLst>
        <pc:docMk/>
      </pc:docMkLst>
      <pc:sldChg chg="addSp delSp modSp mod">
        <pc:chgData name="Fernández de Labastida del Olmo, José Manuel" userId="3d0ed8c1-c201-4636-b68f-76e453f8a3b1" providerId="ADAL" clId="{B60F7AA1-DB91-495B-BF50-67D5A1E50CED}" dt="2026-02-17T15:24:31.075" v="21" actId="207"/>
        <pc:sldMkLst>
          <pc:docMk/>
          <pc:sldMk cId="1055510072" sldId="334"/>
        </pc:sldMkLst>
        <pc:spChg chg="mod">
          <ac:chgData name="Fernández de Labastida del Olmo, José Manuel" userId="3d0ed8c1-c201-4636-b68f-76e453f8a3b1" providerId="ADAL" clId="{B60F7AA1-DB91-495B-BF50-67D5A1E50CED}" dt="2026-02-17T15:10:44.281" v="10" actId="1076"/>
          <ac:spMkLst>
            <pc:docMk/>
            <pc:sldMk cId="1055510072" sldId="334"/>
            <ac:spMk id="6" creationId="{2570B34C-31FB-283D-91AC-7C77E32FE0A5}"/>
          </ac:spMkLst>
        </pc:spChg>
        <pc:graphicFrameChg chg="add del mod">
          <ac:chgData name="Fernández de Labastida del Olmo, José Manuel" userId="3d0ed8c1-c201-4636-b68f-76e453f8a3b1" providerId="ADAL" clId="{B60F7AA1-DB91-495B-BF50-67D5A1E50CED}" dt="2026-02-17T15:10:52.215" v="11" actId="21"/>
          <ac:graphicFrameMkLst>
            <pc:docMk/>
            <pc:sldMk cId="1055510072" sldId="334"/>
            <ac:graphicFrameMk id="4" creationId="{323E2265-1E38-CF7C-A60B-A3E7CE26CFA2}"/>
          </ac:graphicFrameMkLst>
        </pc:graphicFrameChg>
        <pc:graphicFrameChg chg="add mod">
          <ac:chgData name="Fernández de Labastida del Olmo, José Manuel" userId="3d0ed8c1-c201-4636-b68f-76e453f8a3b1" providerId="ADAL" clId="{B60F7AA1-DB91-495B-BF50-67D5A1E50CED}" dt="2026-02-17T15:24:31.075" v="21" actId="207"/>
          <ac:graphicFrameMkLst>
            <pc:docMk/>
            <pc:sldMk cId="1055510072" sldId="334"/>
            <ac:graphicFrameMk id="5" creationId="{323E2265-1E38-CF7C-A60B-A3E7CE26CFA2}"/>
          </ac:graphicFrameMkLst>
        </pc:graphicFrameChg>
        <pc:picChg chg="del">
          <ac:chgData name="Fernández de Labastida del Olmo, José Manuel" userId="3d0ed8c1-c201-4636-b68f-76e453f8a3b1" providerId="ADAL" clId="{B60F7AA1-DB91-495B-BF50-67D5A1E50CED}" dt="2026-02-17T15:10:27.985" v="0" actId="478"/>
          <ac:picMkLst>
            <pc:docMk/>
            <pc:sldMk cId="1055510072" sldId="334"/>
            <ac:picMk id="2" creationId="{F2F07991-06A3-DABE-FFC8-13D171A315C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se.labastida\AppData\Local\Microsoft\Windows\INetCache\Content.Outlook\NLOGBQIC\RYC25-Figura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2000" b="1" baseline="0" dirty="0"/>
              <a:t>Presupuesto de las convocatorias Ramón y Cajal</a:t>
            </a:r>
            <a:br>
              <a:rPr lang="es-ES" sz="2000" b="1" baseline="0" dirty="0"/>
            </a:br>
            <a:r>
              <a:rPr lang="es-ES" sz="1800" b="1" baseline="0" dirty="0"/>
              <a:t>(Millones de euros)</a:t>
            </a:r>
            <a:endParaRPr lang="es-ES" sz="2000" b="1" dirty="0"/>
          </a:p>
        </c:rich>
      </c:tx>
      <c:layout>
        <c:manualLayout>
          <c:xMode val="edge"/>
          <c:yMode val="edge"/>
          <c:x val="0.11144353099397231"/>
          <c:y val="2.05853033900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0"/>
          <c:tx>
            <c:v>PRESUPUESTO</c:v>
          </c:tx>
          <c:spPr>
            <a:solidFill>
              <a:srgbClr val="99161C"/>
            </a:solidFill>
            <a:ln>
              <a:solidFill>
                <a:srgbClr val="99161C"/>
              </a:solidFill>
            </a:ln>
            <a:effectLst/>
          </c:spPr>
          <c:invertIfNegative val="0"/>
          <c:dPt>
            <c:idx val="2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FB8-45AA-9ADE-2B11A2A2E6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generales!$C$5:$C$30</c:f>
              <c:numCache>
                <c:formatCode>General</c:formatCode>
                <c:ptCount val="26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numCache>
            </c:numRef>
          </c:cat>
          <c:val>
            <c:numRef>
              <c:f>generales!$D$5:$D$30</c:f>
              <c:numCache>
                <c:formatCode>_-* #,##0_-;\-* #,##0_-;_-* "-"??_-;_-@_-</c:formatCode>
                <c:ptCount val="26"/>
                <c:pt idx="0">
                  <c:v>122.22</c:v>
                </c:pt>
                <c:pt idx="1">
                  <c:v>77.400000000000006</c:v>
                </c:pt>
                <c:pt idx="2">
                  <c:v>113.73</c:v>
                </c:pt>
                <c:pt idx="3">
                  <c:v>50.31</c:v>
                </c:pt>
                <c:pt idx="4">
                  <c:v>43.35</c:v>
                </c:pt>
                <c:pt idx="5">
                  <c:v>43.55</c:v>
                </c:pt>
                <c:pt idx="6">
                  <c:v>45.36</c:v>
                </c:pt>
                <c:pt idx="7">
                  <c:v>45.81</c:v>
                </c:pt>
                <c:pt idx="8">
                  <c:v>47.74</c:v>
                </c:pt>
                <c:pt idx="9">
                  <c:v>47.16</c:v>
                </c:pt>
                <c:pt idx="10">
                  <c:v>45.9</c:v>
                </c:pt>
                <c:pt idx="11">
                  <c:v>54.01</c:v>
                </c:pt>
                <c:pt idx="12">
                  <c:v>54.01</c:v>
                </c:pt>
                <c:pt idx="13">
                  <c:v>53.7</c:v>
                </c:pt>
                <c:pt idx="14">
                  <c:v>54.01</c:v>
                </c:pt>
                <c:pt idx="15">
                  <c:v>54.01</c:v>
                </c:pt>
                <c:pt idx="16">
                  <c:v>54.01</c:v>
                </c:pt>
                <c:pt idx="17">
                  <c:v>61.72</c:v>
                </c:pt>
                <c:pt idx="18">
                  <c:v>61.72</c:v>
                </c:pt>
                <c:pt idx="19">
                  <c:v>80.09</c:v>
                </c:pt>
                <c:pt idx="20">
                  <c:v>150.08000000000001</c:v>
                </c:pt>
                <c:pt idx="21">
                  <c:v>125.33</c:v>
                </c:pt>
                <c:pt idx="22">
                  <c:v>129.99</c:v>
                </c:pt>
                <c:pt idx="23">
                  <c:v>131.06</c:v>
                </c:pt>
                <c:pt idx="24">
                  <c:v>131.06</c:v>
                </c:pt>
                <c:pt idx="25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B8-45AA-9ADE-2B11A2A2E6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892543"/>
        <c:axId val="14891583"/>
      </c:barChart>
      <c:catAx>
        <c:axId val="14892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891583"/>
        <c:crosses val="autoZero"/>
        <c:auto val="1"/>
        <c:lblAlgn val="ctr"/>
        <c:lblOffset val="100"/>
        <c:noMultiLvlLbl val="0"/>
      </c:catAx>
      <c:valAx>
        <c:axId val="14891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892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66F05-C8F3-41BD-8E85-179ED31319A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41BC0-66DB-464F-9A8B-363B740793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21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9323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156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AD94-A622-D64B-3BAB-C7D4FD3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A869B4-F76F-F015-4E63-9F4B2151C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126B74-02D5-08F7-1E78-03A587361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5354D-E4E9-8B36-C5BD-8C5A034E2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3029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32022-B36B-805F-3947-DB33D7A7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71EDC0-24E4-5452-1A98-53F749E3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C1D950-AED7-5751-48E9-DA216B442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259D1C-8F41-227E-9AED-A03BE82EE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8685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26536-13EF-9A9B-CD6D-FB6DF4D2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AE2B37-1F6B-0AFE-44AF-0409E057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253339-335B-2274-0E40-B37EC3B6F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74AA51-B949-F8AF-9F59-2597F87D5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269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5807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807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6724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3532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4753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55008-FBE6-406B-911D-0ABF44BD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EE878D4-C549-8C5F-A1FE-736679350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032975-746D-9CBA-8621-4AAF55E5E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DC1265-755C-1A1D-9DA2-D5E953DFF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059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7E6E-0B97-C6C4-3921-4C495F8D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F33DE5-6557-963C-4673-698DCEE7B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F7EC91-3A9B-3F3A-7292-CD0A45385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582990-D555-C379-3B9A-D1477E167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561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96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538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023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1075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4912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1BC0-66DB-464F-9A8B-363B7407931C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399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838200" y="1603377"/>
            <a:ext cx="10515600" cy="1917063"/>
          </a:xfrm>
          <a:solidFill>
            <a:srgbClr val="DAE3F4">
              <a:alpha val="50000"/>
            </a:srgbClr>
          </a:solidFill>
          <a:effectLst>
            <a:softEdge rad="317500"/>
          </a:effectLst>
        </p:spPr>
        <p:txBody>
          <a:bodyPr anchor="ctr"/>
          <a:lstStyle>
            <a:lvl1pPr algn="ctr">
              <a:defRPr sz="6000" baseline="0">
                <a:ln>
                  <a:noFill/>
                </a:ln>
              </a:defRPr>
            </a:lvl1pPr>
          </a:lstStyle>
          <a:p>
            <a:r>
              <a:rPr lang="es-ES" dirty="0"/>
              <a:t>TÍTULO</a:t>
            </a:r>
            <a:endParaRPr lang="en-US" dirty="0"/>
          </a:p>
        </p:txBody>
      </p:sp>
      <p:sp>
        <p:nvSpPr>
          <p:cNvPr id="3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838200" y="3607039"/>
            <a:ext cx="10515600" cy="73636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 baseline="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BCF83CB-65BE-B2F9-5157-88647E23792A}"/>
              </a:ext>
            </a:extLst>
          </p:cNvPr>
          <p:cNvSpPr txBox="1"/>
          <p:nvPr userDrawn="1"/>
        </p:nvSpPr>
        <p:spPr>
          <a:xfrm>
            <a:off x="432731" y="284069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800" dirty="0"/>
              <a:t>AGENCIA ESTATAL DE INVESTIGACIÓN</a:t>
            </a:r>
            <a:endParaRPr lang="en-US" sz="38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6DE8347-8FE8-611B-B24C-C00731E72A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4795738"/>
            <a:ext cx="10515600" cy="248906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NOMBRE DE LA PERSONA QUE LO IMPARTE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E665CBF-F95C-BE68-797C-5036E28F12B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38200" y="5019242"/>
            <a:ext cx="10515600" cy="3447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Cargo de la persona que lo imparte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83B8318-435D-BB8D-76FB-B8AB6818FE8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18583" y="6229143"/>
            <a:ext cx="2346592" cy="344788"/>
          </a:xfr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FECHA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DAB713E-D556-A599-3C22-F5260C4BAC8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5837570"/>
            <a:ext cx="3815080" cy="736361"/>
          </a:xfrm>
          <a:blipFill>
            <a:blip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2000" b="1" baseline="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INSERTAR LOGOS</a:t>
            </a:r>
          </a:p>
        </p:txBody>
      </p:sp>
    </p:spTree>
    <p:extLst>
      <p:ext uri="{BB962C8B-B14F-4D97-AF65-F5344CB8AC3E}">
        <p14:creationId xmlns:p14="http://schemas.microsoft.com/office/powerpoint/2010/main" val="956684423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SPED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3887946"/>
            <a:ext cx="9779298" cy="362892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000" b="1" baseline="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INFORMACIÓN ADICIONAL DE CONTACTO: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6DE8347-8FE8-611B-B24C-C00731E72A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725355" y="3227869"/>
            <a:ext cx="8882743" cy="261974"/>
          </a:xfrm>
        </p:spPr>
        <p:txBody>
          <a:bodyPr anchor="ctr">
            <a:noAutofit/>
          </a:bodyPr>
          <a:lstStyle>
            <a:lvl1pPr marL="0" indent="0" algn="r">
              <a:buNone/>
              <a:defRPr sz="1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NOMBRE DE LA PERSONA QUE LO IMPARTIÓ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E665CBF-F95C-BE68-797C-5036E28F12B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725355" y="3376462"/>
            <a:ext cx="8882743" cy="362891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Cargo de la persona que lo </a:t>
            </a:r>
            <a:r>
              <a:rPr lang="es-ES" dirty="0" err="1"/>
              <a:t>impartIó</a:t>
            </a:r>
            <a:endParaRPr lang="es-E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6007ED0-6120-2234-64F0-E79D09CFAE8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725355" y="2745743"/>
            <a:ext cx="8882743" cy="362891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 i="1" baseline="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sz="1600" dirty="0"/>
              <a:t>SUBTÍTULO</a:t>
            </a:r>
            <a:endParaRPr lang="es-E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CD9D1F-EF14-A512-23BE-E1486609C8A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178579" y="4373771"/>
            <a:ext cx="9429520" cy="1381995"/>
          </a:xfrm>
        </p:spPr>
        <p:txBody>
          <a:bodyPr anchor="t">
            <a:norm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1600" b="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EMAILS</a:t>
            </a:r>
          </a:p>
          <a:p>
            <a:pPr lvl="0"/>
            <a:r>
              <a:rPr lang="es-ES" dirty="0"/>
              <a:t>TELÉFONO</a:t>
            </a:r>
          </a:p>
          <a:p>
            <a:pPr lvl="0"/>
            <a:r>
              <a:rPr lang="es-ES" dirty="0"/>
              <a:t>WEB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FCE533-5CC3-730A-409A-8238C441686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25354" y="2303537"/>
            <a:ext cx="8882743" cy="522790"/>
          </a:xfrm>
          <a:effectLst>
            <a:softEdge rad="12700"/>
          </a:effectLst>
        </p:spPr>
        <p:txBody>
          <a:bodyPr anchor="ctr">
            <a:noAutofit/>
          </a:bodyPr>
          <a:lstStyle>
            <a:lvl1pPr marL="0" indent="0" algn="r">
              <a:buNone/>
              <a:defRPr sz="3000" b="1" baseline="0">
                <a:solidFill>
                  <a:srgbClr val="0B3E9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3BFDC02F-5860-8B07-4F75-301A70FDE32E}"/>
              </a:ext>
            </a:extLst>
          </p:cNvPr>
          <p:cNvSpPr txBox="1"/>
          <p:nvPr userDrawn="1"/>
        </p:nvSpPr>
        <p:spPr>
          <a:xfrm>
            <a:off x="8075364" y="1465143"/>
            <a:ext cx="3532733" cy="772292"/>
          </a:xfrm>
          <a:prstGeom prst="rect">
            <a:avLst/>
          </a:prstGeom>
          <a:solidFill>
            <a:schemeClr val="bg2"/>
          </a:solidFill>
          <a:effectLst>
            <a:softEdge rad="317500"/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6000" dirty="0"/>
              <a:t>GRACIAS</a:t>
            </a:r>
            <a:endParaRPr lang="en-US" sz="600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EE1D536-D8EC-8BE9-BF3B-21F83BDA55C1}"/>
              </a:ext>
            </a:extLst>
          </p:cNvPr>
          <p:cNvSpPr txBox="1"/>
          <p:nvPr userDrawn="1"/>
        </p:nvSpPr>
        <p:spPr>
          <a:xfrm>
            <a:off x="432731" y="284069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800" dirty="0"/>
              <a:t>AGENCIA ESTATAL DE INVESTIGACIÓN</a:t>
            </a:r>
            <a:endParaRPr lang="en-US" sz="38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BD4662-49AF-38D7-9D1A-73D273CA924E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8200" y="5837570"/>
            <a:ext cx="3815080" cy="736361"/>
          </a:xfrm>
          <a:blipFill>
            <a:blip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2000" b="1" baseline="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INSERTAR LOGOS</a:t>
            </a:r>
          </a:p>
        </p:txBody>
      </p:sp>
    </p:spTree>
    <p:extLst>
      <p:ext uri="{BB962C8B-B14F-4D97-AF65-F5344CB8AC3E}">
        <p14:creationId xmlns:p14="http://schemas.microsoft.com/office/powerpoint/2010/main" val="11094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1L - CAJ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065390B-EB88-3B41-FEDA-6D0252E68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052"/>
            <a:ext cx="10515600" cy="51079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9F7DA-2385-0CBC-BB3C-66906B54E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1 LÍNEA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0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1L -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62A9EC-9690-859D-C7E9-71459157042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8213" y="1404123"/>
            <a:ext cx="5157787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DA4D96-304F-D00E-F26C-75508689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2358219"/>
            <a:ext cx="5157787" cy="42007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7E4D1F6-CB1B-C65C-E73F-21F81B237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625" y="1404123"/>
            <a:ext cx="5183188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4E44C5-47E3-7D03-DAF3-E88DCF692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2358219"/>
            <a:ext cx="5183188" cy="4200758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18F90A4-F1FB-A865-0068-0EC3EBDEE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1 LÍNEA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7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 1L - 2 COLUMNAS SIN TIT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DA4D96-304F-D00E-F26C-75508689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1417320"/>
            <a:ext cx="4783139" cy="5064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4E44C5-47E3-7D03-DAF3-E88DCF692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0649" y="1417320"/>
            <a:ext cx="4983164" cy="5064760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D762B92-FAF2-6931-170C-9120958D17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s-ES" dirty="0"/>
              <a:t>TITULAR 1 LÍNEA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11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1L - 3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5A0F7-A13A-97E0-D935-97DEDA43E21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8213" y="1404123"/>
            <a:ext cx="5157787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0FE364B-2285-F6EE-3A98-85ECF70F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2366010"/>
            <a:ext cx="5157787" cy="4192966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262F4BF-D9AF-1863-ACEA-420436206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1404123"/>
            <a:ext cx="5183188" cy="5154853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AC9AC-4E60-AC41-10C0-67E73CA82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1 LÍNEA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404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1L - 3 CAJAS INVER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AE61A69-ABF8-885E-6DB1-52D5CF6D144F}"/>
              </a:ext>
            </a:extLst>
          </p:cNvPr>
          <p:cNvSpPr txBox="1"/>
          <p:nvPr userDrawn="1"/>
        </p:nvSpPr>
        <p:spPr>
          <a:xfrm>
            <a:off x="452610" y="299024"/>
            <a:ext cx="942952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5A0F7-A13A-97E0-D935-97DEDA43E21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87978" y="1399859"/>
            <a:ext cx="5157787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0FE364B-2285-F6EE-3A98-85ECF70F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978" y="2361745"/>
            <a:ext cx="5157787" cy="4197231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262F4BF-D9AF-1863-ACEA-420436206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2812" y="1380821"/>
            <a:ext cx="5183188" cy="5178155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7F04998-AD4B-D88E-166B-E3AE25E88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1 LÍNEA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6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1L - 2 CAJAS Y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5A0F7-A13A-97E0-D935-97DEDA43E21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12812" y="1399859"/>
            <a:ext cx="10532953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0FE364B-2285-F6EE-3A98-85ECF70F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978" y="2361745"/>
            <a:ext cx="5157787" cy="4216269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262F4BF-D9AF-1863-ACEA-420436206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2812" y="2342707"/>
            <a:ext cx="5183188" cy="4216269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4F921B-2067-E9BE-804D-48FBA3554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1 LÍNEA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6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1L - LIMP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77E04D-0AE2-AB33-5D75-7ADD1E1C3F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1 LÍNEA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10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2L - CAJ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57F1668-7C76-E610-0660-0B1A6E1A2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052"/>
            <a:ext cx="10515600" cy="51079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DC0AA2B-8C4F-6EB2-416F-3C6A5522F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/>
            </a:lvl1pPr>
          </a:lstStyle>
          <a:p>
            <a:r>
              <a:rPr lang="es-ES" dirty="0"/>
              <a:t>CUANDO EL TITULAR SEA MUY LARGO, USAR EL TITULAR DE DOS LÍNEAS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6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>
        <p:tmplLst>
          <p:tmpl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2L -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62A9EC-9690-859D-C7E9-71459157042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8213" y="1404123"/>
            <a:ext cx="5157787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DA4D96-304F-D00E-F26C-75508689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2368729"/>
            <a:ext cx="5157787" cy="419024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7E4D1F6-CB1B-C65C-E73F-21F81B237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625" y="1404123"/>
            <a:ext cx="5183188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4E44C5-47E3-7D03-DAF3-E88DCF692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2368729"/>
            <a:ext cx="5183188" cy="4190246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8423C34-F9DC-D3A6-9B73-0E1B4B2CC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/>
            </a:lvl1pPr>
          </a:lstStyle>
          <a:p>
            <a:r>
              <a:rPr lang="es-ES" dirty="0"/>
              <a:t>CUANDO EL TITULAR SEA MUY LARGO, USAR EL TITULAR DE DOS LÍNEAS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903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 2L - 2 COLUMNAS SIN TIT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13782ED-DFD7-27DA-DBB4-FBEE90448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1417320"/>
            <a:ext cx="4783139" cy="514165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F8D1D87-3BE6-8D12-DDA2-5575A1464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0649" y="1417320"/>
            <a:ext cx="4983164" cy="5141655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2A628-0CE3-1A78-C8BA-942CCCBDB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/>
            </a:lvl1pPr>
          </a:lstStyle>
          <a:p>
            <a:r>
              <a:rPr lang="es-ES" dirty="0"/>
              <a:t>CUANDO EL TITULAR SEA MUY LARGO, USAR EL TITULAR DE DOS LÍNEAS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4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2L - 3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5A0F7-A13A-97E0-D935-97DEDA43E21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8213" y="1404123"/>
            <a:ext cx="5157787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0FE364B-2285-F6EE-3A98-85ECF70F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2366009"/>
            <a:ext cx="5157787" cy="4192967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262F4BF-D9AF-1863-ACEA-420436206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1404123"/>
            <a:ext cx="5183188" cy="5154853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806369B-EB89-39D6-E255-CB363E27B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/>
            </a:lvl1pPr>
          </a:lstStyle>
          <a:p>
            <a:r>
              <a:rPr lang="es-ES" dirty="0"/>
              <a:t>CUANDO EL TITULAR SEA MUY LARGO, USAR EL TITULAR DE DOS LÍNEAS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68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uiExpand="1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2L - 3 CAJAS INVER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5A0F7-A13A-97E0-D935-97DEDA43E21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87978" y="1399859"/>
            <a:ext cx="5157787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0FE364B-2285-F6EE-3A98-85ECF70F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978" y="2361745"/>
            <a:ext cx="5157787" cy="4197231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262F4BF-D9AF-1863-ACEA-420436206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2812" y="1380821"/>
            <a:ext cx="5183188" cy="5178155"/>
          </a:xfrm>
          <a:noFill/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566827-45F8-36EC-935B-FC69D62A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/>
            </a:lvl1pPr>
          </a:lstStyle>
          <a:p>
            <a:r>
              <a:rPr lang="es-ES" dirty="0"/>
              <a:t>CUANDO EL TITULAR SEA MUY LARGO, USAR EL TITULAR DE DOS LÍNEAS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6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2L - 2 CAJAS Y TIT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0FE364B-2285-F6EE-3A98-85ECF70F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978" y="2361745"/>
            <a:ext cx="5157787" cy="4216269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262F4BF-D9AF-1863-ACEA-420436206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2812" y="2342707"/>
            <a:ext cx="5183188" cy="4216269"/>
          </a:xfrm>
          <a:solidFill>
            <a:srgbClr val="DAE3F4">
              <a:alpha val="20000"/>
            </a:srgbClr>
          </a:solidFill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1D8820A-335F-AEEF-16F1-EB36B623A4C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12812" y="1405114"/>
            <a:ext cx="10532953" cy="823912"/>
          </a:xfrm>
          <a:solidFill>
            <a:srgbClr val="FFDB00">
              <a:alpha val="15000"/>
            </a:srgb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86AF21E-B90C-0B65-F69A-A5EB780EBB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/>
            </a:lvl1pPr>
          </a:lstStyle>
          <a:p>
            <a:r>
              <a:rPr lang="es-ES" dirty="0"/>
              <a:t>CUANDO EL TITULAR SEA MUY LARGO, USAR EL TITULAR DE DOS LÍNEAS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51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 2L - LIMP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2B6C69C-A74E-DD76-CFE1-40887182F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10" y="299024"/>
            <a:ext cx="868123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/>
            </a:lvl1pPr>
          </a:lstStyle>
          <a:p>
            <a:r>
              <a:rPr lang="es-ES" dirty="0"/>
              <a:t>CUANDO EL TITULAR SEA MUY LARGO, USAR EL TITULAR DE DOS LÍNEAS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82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ONDO LIMP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10" y="299024"/>
            <a:ext cx="8620270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1 LÍNEA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51052"/>
            <a:ext cx="10515600" cy="51079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99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61" r:id="rId3"/>
    <p:sldLayoutId id="2147483673" r:id="rId4"/>
    <p:sldLayoutId id="2147483683" r:id="rId5"/>
    <p:sldLayoutId id="2147483668" r:id="rId6"/>
    <p:sldLayoutId id="2147483676" r:id="rId7"/>
    <p:sldLayoutId id="2147483677" r:id="rId8"/>
    <p:sldLayoutId id="2147483675" r:id="rId9"/>
    <p:sldLayoutId id="2147483672" r:id="rId10"/>
    <p:sldLayoutId id="2147483674" r:id="rId11"/>
    <p:sldLayoutId id="2147483684" r:id="rId12"/>
    <p:sldLayoutId id="2147483678" r:id="rId13"/>
    <p:sldLayoutId id="2147483679" r:id="rId14"/>
    <p:sldLayoutId id="2147483680" r:id="rId15"/>
    <p:sldLayoutId id="2147483666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B2A23-FFB1-4985-8CBF-98EBF7D5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91782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E2B3130-7BD2-EBC8-1157-D936CC0D44B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529186" y="1219741"/>
            <a:ext cx="5133627" cy="690214"/>
          </a:xfrm>
          <a:noFill/>
          <a:ln w="28575">
            <a:solidFill>
              <a:srgbClr val="821317"/>
            </a:solidFill>
          </a:ln>
          <a:effectLst/>
        </p:spPr>
        <p:txBody>
          <a:bodyPr lIns="108000" tIns="251999" rIns="108000" bIns="36000" anchor="b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800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Esquema de la presentación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2DD1996D-B6EE-812A-79C2-635E6869A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2100" y="3597160"/>
            <a:ext cx="4263895" cy="2069367"/>
          </a:xfrm>
          <a:noFill/>
          <a:ln>
            <a:noFill/>
          </a:ln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bg1"/>
                </a:solidFill>
              </a:rPr>
              <a:t>Los motivos</a:t>
            </a:r>
          </a:p>
          <a:p>
            <a:pPr lvl="1">
              <a:lnSpc>
                <a:spcPct val="10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bg1"/>
                </a:solidFill>
              </a:rPr>
              <a:t>Las modificaciones</a:t>
            </a:r>
          </a:p>
          <a:p>
            <a:pPr lvl="1">
              <a:lnSpc>
                <a:spcPct val="10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bg1"/>
                </a:solidFill>
              </a:rPr>
              <a:t>Los detalles</a:t>
            </a:r>
          </a:p>
          <a:p>
            <a:pPr lvl="1">
              <a:lnSpc>
                <a:spcPct val="10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bg1"/>
                </a:solidFill>
              </a:rPr>
              <a:t>El impacto</a:t>
            </a:r>
            <a:endParaRPr lang="es-ES" sz="2000" dirty="0">
              <a:solidFill>
                <a:schemeClr val="bg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79C39A9-CB9D-F9B1-5F1D-B300338BF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3643902" cy="604359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99161C"/>
                </a:solidFill>
              </a:rPr>
              <a:t>Novedades </a:t>
            </a:r>
            <a:r>
              <a:rPr lang="es-ES" b="1" dirty="0" err="1">
                <a:solidFill>
                  <a:srgbClr val="99161C"/>
                </a:solidFill>
              </a:rPr>
              <a:t>RyC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93342EB-67AB-5881-0F24-1746EBFEDEB5}"/>
              </a:ext>
            </a:extLst>
          </p:cNvPr>
          <p:cNvSpPr txBox="1">
            <a:spLocks/>
          </p:cNvSpPr>
          <p:nvPr/>
        </p:nvSpPr>
        <p:spPr>
          <a:xfrm>
            <a:off x="3964052" y="3072904"/>
            <a:ext cx="4263895" cy="206936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dirty="0"/>
              <a:t>Los motivos.</a:t>
            </a:r>
          </a:p>
          <a:p>
            <a:pPr lvl="1"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dirty="0"/>
              <a:t>Las modificaciones.</a:t>
            </a:r>
          </a:p>
          <a:p>
            <a:pPr lvl="1"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dirty="0"/>
              <a:t>Los detalles.</a:t>
            </a:r>
          </a:p>
          <a:p>
            <a:pPr lvl="1"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dirty="0"/>
              <a:t>El impacto.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61414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640BA6-A145-EB46-529F-0E851296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02F35C6-F53D-DF29-3278-5AB5EFBE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3643902" cy="604359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99161C"/>
                </a:solidFill>
              </a:rPr>
              <a:t>Novedades </a:t>
            </a:r>
            <a:r>
              <a:rPr lang="es-ES" b="1" dirty="0" err="1">
                <a:solidFill>
                  <a:srgbClr val="99161C"/>
                </a:solidFill>
              </a:rPr>
              <a:t>RyC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A465BADC-7810-0062-2154-67B849CBCFE6}"/>
              </a:ext>
            </a:extLst>
          </p:cNvPr>
          <p:cNvSpPr txBox="1">
            <a:spLocks/>
          </p:cNvSpPr>
          <p:nvPr/>
        </p:nvSpPr>
        <p:spPr>
          <a:xfrm>
            <a:off x="3529186" y="3083893"/>
            <a:ext cx="5133627" cy="690214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800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Los motivos</a:t>
            </a:r>
          </a:p>
        </p:txBody>
      </p:sp>
    </p:spTree>
    <p:extLst>
      <p:ext uri="{BB962C8B-B14F-4D97-AF65-F5344CB8AC3E}">
        <p14:creationId xmlns:p14="http://schemas.microsoft.com/office/powerpoint/2010/main" val="344939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14893A-04D5-FF1E-1FBF-28E4F68B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5A235A4-6DA6-2AFE-94A6-FA415F1F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718822" cy="604359"/>
          </a:xfrm>
        </p:spPr>
        <p:txBody>
          <a:bodyPr>
            <a:noAutofit/>
          </a:bodyPr>
          <a:lstStyle/>
          <a:p>
            <a:r>
              <a:rPr lang="es-ES" sz="4000" b="1" dirty="0">
                <a:solidFill>
                  <a:srgbClr val="99161C"/>
                </a:solidFill>
              </a:rPr>
              <a:t>Novedades </a:t>
            </a:r>
            <a:r>
              <a:rPr lang="es-ES" sz="4000" b="1" dirty="0" err="1">
                <a:solidFill>
                  <a:srgbClr val="99161C"/>
                </a:solidFill>
              </a:rPr>
              <a:t>RyC</a:t>
            </a:r>
            <a:r>
              <a:rPr lang="es-ES" sz="4000" b="1" dirty="0">
                <a:solidFill>
                  <a:srgbClr val="99161C"/>
                </a:solidFill>
              </a:rPr>
              <a:t>: los motivos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E034AE8-DF42-002A-5FBF-741255596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173714"/>
              </p:ext>
            </p:extLst>
          </p:nvPr>
        </p:nvGraphicFramePr>
        <p:xfrm>
          <a:off x="2219452" y="2938289"/>
          <a:ext cx="7753094" cy="2716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1123">
                  <a:extLst>
                    <a:ext uri="{9D8B030D-6E8A-4147-A177-3AD203B41FA5}">
                      <a16:colId xmlns:a16="http://schemas.microsoft.com/office/drawing/2014/main" val="4077898600"/>
                    </a:ext>
                  </a:extLst>
                </a:gridCol>
                <a:gridCol w="1265442">
                  <a:extLst>
                    <a:ext uri="{9D8B030D-6E8A-4147-A177-3AD203B41FA5}">
                      <a16:colId xmlns:a16="http://schemas.microsoft.com/office/drawing/2014/main" val="383752226"/>
                    </a:ext>
                  </a:extLst>
                </a:gridCol>
                <a:gridCol w="2344994">
                  <a:extLst>
                    <a:ext uri="{9D8B030D-6E8A-4147-A177-3AD203B41FA5}">
                      <a16:colId xmlns:a16="http://schemas.microsoft.com/office/drawing/2014/main" val="1319413660"/>
                    </a:ext>
                  </a:extLst>
                </a:gridCol>
                <a:gridCol w="1961535">
                  <a:extLst>
                    <a:ext uri="{9D8B030D-6E8A-4147-A177-3AD203B41FA5}">
                      <a16:colId xmlns:a16="http://schemas.microsoft.com/office/drawing/2014/main" val="1859998772"/>
                    </a:ext>
                  </a:extLst>
                </a:gridCol>
              </a:tblGrid>
              <a:tr h="662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2400" b="1" i="0" u="none" strike="noStrike" dirty="0">
                          <a:solidFill>
                            <a:srgbClr val="99161C"/>
                          </a:solidFill>
                          <a:effectLst/>
                          <a:latin typeface="+mn-lt"/>
                        </a:rPr>
                        <a:t>ERC</a:t>
                      </a:r>
                    </a:p>
                  </a:txBody>
                  <a:tcPr marL="9525" marR="9525" marT="9525" marB="0" anchor="ctr">
                    <a:solidFill>
                      <a:srgbClr val="7C1517">
                        <a:alpha val="4516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99161C"/>
                          </a:solidFill>
                          <a:effectLst/>
                        </a:rPr>
                        <a:t>Cuota ES</a:t>
                      </a:r>
                      <a:endParaRPr lang="es-ES" sz="1800" b="1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16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99161C"/>
                          </a:solidFill>
                          <a:effectLst/>
                        </a:rPr>
                        <a:t>Ratio éxito general</a:t>
                      </a:r>
                      <a:endParaRPr lang="es-ES" sz="1800" b="1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16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99161C"/>
                          </a:solidFill>
                          <a:effectLst/>
                        </a:rPr>
                        <a:t>Ratio éxito ES</a:t>
                      </a:r>
                      <a:endParaRPr lang="es-ES" sz="1800" b="1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16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332967"/>
                  </a:ext>
                </a:extLst>
              </a:tr>
              <a:tr h="7299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99161C"/>
                          </a:solidFill>
                          <a:effectLst/>
                        </a:rPr>
                        <a:t>FP7 (2007-2013)</a:t>
                      </a:r>
                      <a:endParaRPr lang="es-ES" sz="1800" b="1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2994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5,4%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2994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10,4%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2994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6,8%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2994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791438"/>
                  </a:ext>
                </a:extLst>
              </a:tr>
              <a:tr h="662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99161C"/>
                          </a:solidFill>
                          <a:effectLst/>
                        </a:rPr>
                        <a:t>H2020 (2014-2020)</a:t>
                      </a:r>
                      <a:endParaRPr lang="es-ES" sz="1800" b="1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5,8%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12,4%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8,4%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54754"/>
                  </a:ext>
                </a:extLst>
              </a:tr>
              <a:tr h="662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99161C"/>
                          </a:solidFill>
                          <a:effectLst/>
                        </a:rPr>
                        <a:t>HE (2021-2024)</a:t>
                      </a:r>
                      <a:endParaRPr lang="es-ES" sz="1800" b="1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73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6,1%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73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14,5%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73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solidFill>
                            <a:srgbClr val="99161C"/>
                          </a:solidFill>
                          <a:effectLst/>
                        </a:rPr>
                        <a:t>12,0%</a:t>
                      </a:r>
                      <a:endParaRPr lang="es-ES" sz="1800" b="0" i="0" u="none" strike="noStrike" dirty="0">
                        <a:solidFill>
                          <a:srgbClr val="99161C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73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6055"/>
                  </a:ext>
                </a:extLst>
              </a:tr>
            </a:tbl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E5114DC-8870-1086-6864-523F290EE7AD}"/>
              </a:ext>
            </a:extLst>
          </p:cNvPr>
          <p:cNvSpPr txBox="1">
            <a:spLocks/>
          </p:cNvSpPr>
          <p:nvPr/>
        </p:nvSpPr>
        <p:spPr>
          <a:xfrm>
            <a:off x="3529185" y="1230622"/>
            <a:ext cx="5133627" cy="690214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b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800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Participación española en el ERC</a:t>
            </a:r>
          </a:p>
        </p:txBody>
      </p:sp>
    </p:spTree>
    <p:extLst>
      <p:ext uri="{BB962C8B-B14F-4D97-AF65-F5344CB8AC3E}">
        <p14:creationId xmlns:p14="http://schemas.microsoft.com/office/powerpoint/2010/main" val="96547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B5270D-6683-536A-02C6-C3CA5A40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5">
            <a:extLst>
              <a:ext uri="{FF2B5EF4-FFF2-40B4-BE49-F238E27FC236}">
                <a16:creationId xmlns:a16="http://schemas.microsoft.com/office/drawing/2014/main" id="{6E99CE61-69FE-4660-733D-844C77F6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718822" cy="604359"/>
          </a:xfrm>
        </p:spPr>
        <p:txBody>
          <a:bodyPr>
            <a:noAutofit/>
          </a:bodyPr>
          <a:lstStyle/>
          <a:p>
            <a:r>
              <a:rPr lang="es-ES" sz="4000" b="1" dirty="0">
                <a:solidFill>
                  <a:srgbClr val="99161C"/>
                </a:solidFill>
              </a:rPr>
              <a:t>Novedades </a:t>
            </a:r>
            <a:r>
              <a:rPr lang="es-ES" sz="4000" b="1" dirty="0" err="1">
                <a:solidFill>
                  <a:srgbClr val="99161C"/>
                </a:solidFill>
              </a:rPr>
              <a:t>RyC</a:t>
            </a:r>
            <a:r>
              <a:rPr lang="es-ES" sz="4000" b="1" dirty="0">
                <a:solidFill>
                  <a:srgbClr val="99161C"/>
                </a:solidFill>
              </a:rPr>
              <a:t>: los motivos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5E6EF60-D944-2AA2-2C22-3F4A728DD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4455"/>
              </p:ext>
            </p:extLst>
          </p:nvPr>
        </p:nvGraphicFramePr>
        <p:xfrm>
          <a:off x="299883" y="3059607"/>
          <a:ext cx="11592234" cy="25508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8517">
                  <a:extLst>
                    <a:ext uri="{9D8B030D-6E8A-4147-A177-3AD203B41FA5}">
                      <a16:colId xmlns:a16="http://schemas.microsoft.com/office/drawing/2014/main" val="93710173"/>
                    </a:ext>
                  </a:extLst>
                </a:gridCol>
                <a:gridCol w="889322">
                  <a:extLst>
                    <a:ext uri="{9D8B030D-6E8A-4147-A177-3AD203B41FA5}">
                      <a16:colId xmlns:a16="http://schemas.microsoft.com/office/drawing/2014/main" val="1825960313"/>
                    </a:ext>
                  </a:extLst>
                </a:gridCol>
                <a:gridCol w="1313008">
                  <a:extLst>
                    <a:ext uri="{9D8B030D-6E8A-4147-A177-3AD203B41FA5}">
                      <a16:colId xmlns:a16="http://schemas.microsoft.com/office/drawing/2014/main" val="923032845"/>
                    </a:ext>
                  </a:extLst>
                </a:gridCol>
                <a:gridCol w="998070">
                  <a:extLst>
                    <a:ext uri="{9D8B030D-6E8A-4147-A177-3AD203B41FA5}">
                      <a16:colId xmlns:a16="http://schemas.microsoft.com/office/drawing/2014/main" val="2189691920"/>
                    </a:ext>
                  </a:extLst>
                </a:gridCol>
                <a:gridCol w="881919">
                  <a:extLst>
                    <a:ext uri="{9D8B030D-6E8A-4147-A177-3AD203B41FA5}">
                      <a16:colId xmlns:a16="http://schemas.microsoft.com/office/drawing/2014/main" val="2526475052"/>
                    </a:ext>
                  </a:extLst>
                </a:gridCol>
                <a:gridCol w="1342850">
                  <a:extLst>
                    <a:ext uri="{9D8B030D-6E8A-4147-A177-3AD203B41FA5}">
                      <a16:colId xmlns:a16="http://schemas.microsoft.com/office/drawing/2014/main" val="116849408"/>
                    </a:ext>
                  </a:extLst>
                </a:gridCol>
                <a:gridCol w="925074">
                  <a:extLst>
                    <a:ext uri="{9D8B030D-6E8A-4147-A177-3AD203B41FA5}">
                      <a16:colId xmlns:a16="http://schemas.microsoft.com/office/drawing/2014/main" val="3338004816"/>
                    </a:ext>
                  </a:extLst>
                </a:gridCol>
                <a:gridCol w="880313">
                  <a:extLst>
                    <a:ext uri="{9D8B030D-6E8A-4147-A177-3AD203B41FA5}">
                      <a16:colId xmlns:a16="http://schemas.microsoft.com/office/drawing/2014/main" val="3457149313"/>
                    </a:ext>
                  </a:extLst>
                </a:gridCol>
                <a:gridCol w="1387611">
                  <a:extLst>
                    <a:ext uri="{9D8B030D-6E8A-4147-A177-3AD203B41FA5}">
                      <a16:colId xmlns:a16="http://schemas.microsoft.com/office/drawing/2014/main" val="3675780231"/>
                    </a:ext>
                  </a:extLst>
                </a:gridCol>
                <a:gridCol w="835550">
                  <a:extLst>
                    <a:ext uri="{9D8B030D-6E8A-4147-A177-3AD203B41FA5}">
                      <a16:colId xmlns:a16="http://schemas.microsoft.com/office/drawing/2014/main" val="3228192725"/>
                    </a:ext>
                  </a:extLst>
                </a:gridCol>
              </a:tblGrid>
              <a:tr h="43904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ERC</a:t>
                      </a:r>
                      <a:endParaRPr lang="es-ES" sz="24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45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solidFill>
                            <a:srgbClr val="7C1517"/>
                          </a:solidFill>
                          <a:effectLst/>
                        </a:rPr>
                        <a:t>Starting</a:t>
                      </a:r>
                      <a:r>
                        <a:rPr lang="es-ES" sz="1800" b="1" u="none" strike="noStrike" dirty="0">
                          <a:solidFill>
                            <a:srgbClr val="7C1517"/>
                          </a:solidFill>
                          <a:effectLst/>
                        </a:rPr>
                        <a:t> </a:t>
                      </a:r>
                      <a:r>
                        <a:rPr lang="es-ES" sz="1800" b="1" u="none" strike="noStrike" dirty="0" err="1">
                          <a:solidFill>
                            <a:srgbClr val="7C1517"/>
                          </a:solidFill>
                          <a:effectLst/>
                        </a:rPr>
                        <a:t>grants</a:t>
                      </a:r>
                      <a:endParaRPr lang="es-ES" sz="1800" b="1" i="0" u="none" strike="noStrike" dirty="0">
                        <a:solidFill>
                          <a:srgbClr val="7C15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4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solidFill>
                            <a:srgbClr val="7C1517"/>
                          </a:solidFill>
                          <a:effectLst/>
                        </a:rPr>
                        <a:t>Consolidator</a:t>
                      </a:r>
                      <a:r>
                        <a:rPr lang="es-ES" sz="1800" b="1" u="none" strike="noStrike" dirty="0">
                          <a:solidFill>
                            <a:srgbClr val="7C1517"/>
                          </a:solidFill>
                          <a:effectLst/>
                        </a:rPr>
                        <a:t> </a:t>
                      </a:r>
                      <a:r>
                        <a:rPr lang="es-ES" sz="1800" b="1" u="none" strike="noStrike" dirty="0" err="1">
                          <a:solidFill>
                            <a:srgbClr val="7C1517"/>
                          </a:solidFill>
                          <a:effectLst/>
                        </a:rPr>
                        <a:t>grants</a:t>
                      </a:r>
                      <a:endParaRPr lang="es-ES" sz="1800" b="1" i="0" u="none" strike="noStrike" dirty="0">
                        <a:solidFill>
                          <a:srgbClr val="7C15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4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solidFill>
                            <a:srgbClr val="7C1517"/>
                          </a:solidFill>
                          <a:effectLst/>
                        </a:rPr>
                        <a:t>Advanced</a:t>
                      </a:r>
                      <a:r>
                        <a:rPr lang="es-ES" sz="1800" b="1" u="none" strike="noStrike" dirty="0">
                          <a:solidFill>
                            <a:srgbClr val="7C1517"/>
                          </a:solidFill>
                          <a:effectLst/>
                        </a:rPr>
                        <a:t> </a:t>
                      </a:r>
                      <a:r>
                        <a:rPr lang="es-ES" sz="1800" b="1" u="none" strike="noStrike" dirty="0" err="1">
                          <a:solidFill>
                            <a:srgbClr val="7C1517"/>
                          </a:solidFill>
                          <a:effectLst/>
                        </a:rPr>
                        <a:t>grants</a:t>
                      </a:r>
                      <a:endParaRPr lang="es-ES" sz="1800" b="1" i="0" u="none" strike="noStrike" dirty="0">
                        <a:solidFill>
                          <a:srgbClr val="7C15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4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161585"/>
                  </a:ext>
                </a:extLst>
              </a:tr>
              <a:tr h="794673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% ES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% </a:t>
                      </a:r>
                      <a:r>
                        <a:rPr lang="es-ES" sz="1800" b="1" u="none" strike="noStrike" dirty="0" err="1">
                          <a:solidFill>
                            <a:srgbClr val="821317"/>
                          </a:solidFill>
                          <a:effectLst/>
                        </a:rPr>
                        <a:t>RyC</a:t>
                      </a: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 versus ES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solidFill>
                            <a:srgbClr val="821317"/>
                          </a:solidFill>
                          <a:effectLst/>
                        </a:rPr>
                        <a:t>Prom</a:t>
                      </a: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. años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% ES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% </a:t>
                      </a:r>
                      <a:r>
                        <a:rPr lang="es-ES" sz="1800" b="1" u="none" strike="noStrike" dirty="0" err="1">
                          <a:solidFill>
                            <a:srgbClr val="821317"/>
                          </a:solidFill>
                          <a:effectLst/>
                        </a:rPr>
                        <a:t>RyC</a:t>
                      </a: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 versus ES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solidFill>
                            <a:srgbClr val="821317"/>
                          </a:solidFill>
                          <a:effectLst/>
                        </a:rPr>
                        <a:t>Prom</a:t>
                      </a: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. años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% ES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% </a:t>
                      </a:r>
                      <a:r>
                        <a:rPr lang="es-ES" sz="1800" b="1" u="none" strike="noStrike" dirty="0" err="1">
                          <a:solidFill>
                            <a:srgbClr val="821317"/>
                          </a:solidFill>
                          <a:effectLst/>
                        </a:rPr>
                        <a:t>RyC</a:t>
                      </a: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 versus ES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solidFill>
                            <a:srgbClr val="821317"/>
                          </a:solidFill>
                          <a:effectLst/>
                        </a:rPr>
                        <a:t>Prom</a:t>
                      </a: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. años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4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992095"/>
                  </a:ext>
                </a:extLst>
              </a:tr>
              <a:tr h="4390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FP7 (2007-2013)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5,7%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49%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3,9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6,4%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50%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7,0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4,8%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4%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7,0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21317">
                        <a:alpha val="302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218236"/>
                  </a:ext>
                </a:extLst>
              </a:tr>
              <a:tr h="4390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H2020 (2014-2020)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5,6%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39%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2,7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6,1%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46%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6,0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5,7%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16%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13,6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C1517">
                        <a:alpha val="955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10421"/>
                  </a:ext>
                </a:extLst>
              </a:tr>
              <a:tr h="4390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HE (2021-2024)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5,6%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56%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1,6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6,8%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40%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4,3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5,9%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28%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solidFill>
                            <a:srgbClr val="821317"/>
                          </a:solidFill>
                          <a:effectLst/>
                        </a:rPr>
                        <a:t>18,4</a:t>
                      </a:r>
                      <a:endParaRPr lang="es-ES" sz="1800" b="1" i="0" u="none" strike="noStrike" dirty="0">
                        <a:solidFill>
                          <a:srgbClr val="821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9161C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004196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BFDFD336-C917-9618-7CEC-73593A66A4F1}"/>
              </a:ext>
            </a:extLst>
          </p:cNvPr>
          <p:cNvSpPr txBox="1"/>
          <p:nvPr/>
        </p:nvSpPr>
        <p:spPr>
          <a:xfrm>
            <a:off x="299883" y="5816377"/>
            <a:ext cx="10595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9161C"/>
                </a:solidFill>
              </a:rPr>
              <a:t>% </a:t>
            </a:r>
            <a:r>
              <a:rPr lang="es-ES" dirty="0" err="1">
                <a:solidFill>
                  <a:srgbClr val="99161C"/>
                </a:solidFill>
              </a:rPr>
              <a:t>RyCs</a:t>
            </a:r>
            <a:r>
              <a:rPr lang="es-ES" dirty="0">
                <a:solidFill>
                  <a:srgbClr val="99161C"/>
                </a:solidFill>
              </a:rPr>
              <a:t> que han obtenido al menos un </a:t>
            </a:r>
            <a:r>
              <a:rPr lang="es-ES" dirty="0" err="1">
                <a:solidFill>
                  <a:srgbClr val="99161C"/>
                </a:solidFill>
              </a:rPr>
              <a:t>StG</a:t>
            </a:r>
            <a:r>
              <a:rPr lang="es-ES" dirty="0">
                <a:solidFill>
                  <a:srgbClr val="99161C"/>
                </a:solidFill>
              </a:rPr>
              <a:t> o </a:t>
            </a:r>
            <a:r>
              <a:rPr lang="es-ES" dirty="0" err="1">
                <a:solidFill>
                  <a:srgbClr val="99161C"/>
                </a:solidFill>
              </a:rPr>
              <a:t>CoG</a:t>
            </a:r>
            <a:r>
              <a:rPr lang="es-ES" dirty="0">
                <a:solidFill>
                  <a:srgbClr val="99161C"/>
                </a:solidFill>
              </a:rPr>
              <a:t> del ERC (2007-2020): </a:t>
            </a:r>
            <a:r>
              <a:rPr lang="es-ES" b="1" dirty="0">
                <a:solidFill>
                  <a:srgbClr val="99161C"/>
                </a:solidFill>
              </a:rPr>
              <a:t>6,3%.</a:t>
            </a:r>
          </a:p>
        </p:txBody>
      </p:sp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D5E90AD5-9293-9540-A394-7222BDE798A6}"/>
              </a:ext>
            </a:extLst>
          </p:cNvPr>
          <p:cNvSpPr txBox="1">
            <a:spLocks/>
          </p:cNvSpPr>
          <p:nvPr/>
        </p:nvSpPr>
        <p:spPr>
          <a:xfrm>
            <a:off x="2875163" y="1241763"/>
            <a:ext cx="6697682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Investigadores/as </a:t>
            </a:r>
            <a:r>
              <a:rPr lang="es-ES" dirty="0" err="1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RyC</a:t>
            </a: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 financiados por el ERC</a:t>
            </a:r>
          </a:p>
        </p:txBody>
      </p:sp>
    </p:spTree>
    <p:extLst>
      <p:ext uri="{BB962C8B-B14F-4D97-AF65-F5344CB8AC3E}">
        <p14:creationId xmlns:p14="http://schemas.microsoft.com/office/powerpoint/2010/main" val="860470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4176E7-4901-109E-4960-979D6864B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4" y="3002352"/>
            <a:ext cx="10515600" cy="2451525"/>
          </a:xfrm>
        </p:spPr>
        <p:txBody>
          <a:bodyPr>
            <a:normAutofit/>
          </a:bodyPr>
          <a:lstStyle/>
          <a:p>
            <a:pPr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El número de solicitudes en PID lideradas por un investigador/a </a:t>
            </a:r>
            <a:r>
              <a:rPr lang="es-ES" sz="2400" dirty="0" err="1"/>
              <a:t>RyC</a:t>
            </a:r>
            <a:r>
              <a:rPr lang="es-ES" sz="2400" dirty="0"/>
              <a:t> se ha incrementado de 196 en PID2020 a 582 en PID2024.</a:t>
            </a:r>
          </a:p>
          <a:p>
            <a:pPr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El % de investigadores/as </a:t>
            </a:r>
            <a:r>
              <a:rPr lang="es-ES" sz="2400" dirty="0" err="1"/>
              <a:t>RyC</a:t>
            </a:r>
            <a:r>
              <a:rPr lang="es-ES" sz="2400" dirty="0"/>
              <a:t> que obtienen financiación en PID ha descendido desde el 76,9 % en 2020 al 54,9 % en 2024.</a:t>
            </a:r>
          </a:p>
          <a:p>
            <a:pPr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Un porcentaje importante de la financiación solicitada en PID por los investigadores/as </a:t>
            </a:r>
            <a:r>
              <a:rPr lang="es-ES" sz="2400" dirty="0" err="1"/>
              <a:t>RyC</a:t>
            </a:r>
            <a:r>
              <a:rPr lang="es-ES" sz="2400" dirty="0"/>
              <a:t> es para la contratación de personal.</a:t>
            </a:r>
          </a:p>
        </p:txBody>
      </p:sp>
      <p:sp>
        <p:nvSpPr>
          <p:cNvPr id="12" name="Título 5">
            <a:extLst>
              <a:ext uri="{FF2B5EF4-FFF2-40B4-BE49-F238E27FC236}">
                <a16:creationId xmlns:a16="http://schemas.microsoft.com/office/drawing/2014/main" id="{F7CADC1C-B21A-AC66-BF71-BCE00A07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718822" cy="604359"/>
          </a:xfrm>
        </p:spPr>
        <p:txBody>
          <a:bodyPr>
            <a:noAutofit/>
          </a:bodyPr>
          <a:lstStyle/>
          <a:p>
            <a:r>
              <a:rPr lang="es-ES" sz="4000" b="1" dirty="0">
                <a:solidFill>
                  <a:srgbClr val="821317"/>
                </a:solidFill>
              </a:rPr>
              <a:t>Novedades </a:t>
            </a:r>
            <a:r>
              <a:rPr lang="es-ES" sz="4000" b="1" dirty="0" err="1">
                <a:solidFill>
                  <a:srgbClr val="821317"/>
                </a:solidFill>
              </a:rPr>
              <a:t>RyC</a:t>
            </a:r>
            <a:r>
              <a:rPr lang="es-ES" sz="4000" b="1" dirty="0">
                <a:solidFill>
                  <a:srgbClr val="821317"/>
                </a:solidFill>
              </a:rPr>
              <a:t>: los motivos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EDABF6C-A539-B930-AB6E-B83FFBF91241}"/>
              </a:ext>
            </a:extLst>
          </p:cNvPr>
          <p:cNvSpPr txBox="1">
            <a:spLocks/>
          </p:cNvSpPr>
          <p:nvPr/>
        </p:nvSpPr>
        <p:spPr>
          <a:xfrm>
            <a:off x="2454760" y="1272584"/>
            <a:ext cx="7282480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Proyectos de Generación de Conocimiento (PID)</a:t>
            </a:r>
          </a:p>
        </p:txBody>
      </p:sp>
    </p:spTree>
    <p:extLst>
      <p:ext uri="{BB962C8B-B14F-4D97-AF65-F5344CB8AC3E}">
        <p14:creationId xmlns:p14="http://schemas.microsoft.com/office/powerpoint/2010/main" val="287635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905CB3-138F-07F5-F70A-DDB3D08FE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7C510E9-195C-CEF0-EE10-C2ABBBD7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99161C"/>
                </a:solidFill>
              </a:rPr>
              <a:t>Novedades </a:t>
            </a:r>
            <a:r>
              <a:rPr lang="es-ES" b="1" dirty="0" err="1">
                <a:solidFill>
                  <a:srgbClr val="99161C"/>
                </a:solidFill>
              </a:rPr>
              <a:t>RyC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7A8685A-A976-E2D8-641E-9454A998EEC2}"/>
              </a:ext>
            </a:extLst>
          </p:cNvPr>
          <p:cNvSpPr txBox="1">
            <a:spLocks/>
          </p:cNvSpPr>
          <p:nvPr/>
        </p:nvSpPr>
        <p:spPr>
          <a:xfrm>
            <a:off x="2454760" y="2625946"/>
            <a:ext cx="7282480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Las modificaciones</a:t>
            </a:r>
          </a:p>
        </p:txBody>
      </p:sp>
    </p:spTree>
    <p:extLst>
      <p:ext uri="{BB962C8B-B14F-4D97-AF65-F5344CB8AC3E}">
        <p14:creationId xmlns:p14="http://schemas.microsoft.com/office/powerpoint/2010/main" val="114305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6B3F0D-70AE-2C02-0AC4-23F7ED92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7AAEE5-B52C-043C-C125-1114A40C1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32105" y="2728775"/>
            <a:ext cx="8470327" cy="3554038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Financiación de un proyecto (además de la cofinanciación del contrato).</a:t>
            </a:r>
          </a:p>
          <a:p>
            <a:pPr lvl="0">
              <a:lnSpc>
                <a:spcPct val="100000"/>
              </a:lnSpc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Evaluación de la solicitud con el foco puesto en la propuesta científica incorporando una entrevista.</a:t>
            </a:r>
          </a:p>
          <a:p>
            <a:pPr lvl="0">
              <a:lnSpc>
                <a:spcPct val="100000"/>
              </a:lnSpc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Incentivo a la participación en el ERC.</a:t>
            </a:r>
          </a:p>
          <a:p>
            <a:pPr lvl="0">
              <a:lnSpc>
                <a:spcPct val="100000"/>
              </a:lnSpc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Incentivo a las instituciones receptoras para la estabilización del investigador/a.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0758E7-1087-C03E-BEBF-9CE5273D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las modificaciones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0A2E8A6C-E9AF-D4AD-ADD2-23F1ABA474DA}"/>
              </a:ext>
            </a:extLst>
          </p:cNvPr>
          <p:cNvSpPr txBox="1">
            <a:spLocks/>
          </p:cNvSpPr>
          <p:nvPr/>
        </p:nvSpPr>
        <p:spPr>
          <a:xfrm>
            <a:off x="2454760" y="1264164"/>
            <a:ext cx="7282480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Características generales</a:t>
            </a:r>
          </a:p>
        </p:txBody>
      </p:sp>
    </p:spTree>
    <p:extLst>
      <p:ext uri="{BB962C8B-B14F-4D97-AF65-F5344CB8AC3E}">
        <p14:creationId xmlns:p14="http://schemas.microsoft.com/office/powerpoint/2010/main" val="249667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05A4D7-300E-223F-3C13-2EF4FF3A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570B34C-31FB-283D-91AC-7C77E32F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las modificaciones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135A1A38-EB83-3B15-D9A2-0D72393610F8}"/>
              </a:ext>
            </a:extLst>
          </p:cNvPr>
          <p:cNvSpPr txBox="1">
            <a:spLocks/>
          </p:cNvSpPr>
          <p:nvPr/>
        </p:nvSpPr>
        <p:spPr>
          <a:xfrm>
            <a:off x="2454760" y="1259664"/>
            <a:ext cx="7282480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El presupuesto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23E2265-1E38-CF7C-A60B-A3E7CE26C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694673"/>
              </p:ext>
            </p:extLst>
          </p:nvPr>
        </p:nvGraphicFramePr>
        <p:xfrm>
          <a:off x="2900911" y="2547594"/>
          <a:ext cx="6390178" cy="3701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5551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DC4966-ED27-B2BC-63EC-EE7D6819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8F3755-B153-8994-5AFE-65B77692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99161C"/>
                </a:solidFill>
              </a:rPr>
              <a:t>Novedades </a:t>
            </a:r>
            <a:r>
              <a:rPr lang="es-ES" b="1" dirty="0" err="1">
                <a:solidFill>
                  <a:srgbClr val="99161C"/>
                </a:solidFill>
              </a:rPr>
              <a:t>RyC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72D9DAE-6A94-63B3-D022-3E5F4902BF11}"/>
              </a:ext>
            </a:extLst>
          </p:cNvPr>
          <p:cNvSpPr txBox="1">
            <a:spLocks/>
          </p:cNvSpPr>
          <p:nvPr/>
        </p:nvSpPr>
        <p:spPr>
          <a:xfrm>
            <a:off x="2454760" y="3017044"/>
            <a:ext cx="7282480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Los detalles</a:t>
            </a:r>
          </a:p>
        </p:txBody>
      </p:sp>
    </p:spTree>
    <p:extLst>
      <p:ext uri="{BB962C8B-B14F-4D97-AF65-F5344CB8AC3E}">
        <p14:creationId xmlns:p14="http://schemas.microsoft.com/office/powerpoint/2010/main" val="149827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049E66-FF22-EC45-C84E-79DEAAC0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63D850-CA6F-8ADA-3B8B-33F787DA0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811" y="2342707"/>
            <a:ext cx="10532953" cy="4216269"/>
          </a:xfrm>
          <a:solidFill>
            <a:srgbClr val="7C1517">
              <a:alpha val="4893"/>
            </a:srgbClr>
          </a:solidFill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b="1" dirty="0"/>
              <a:t>Cofinanciación del salario del investigador/a principal (IP)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b="1" dirty="0"/>
              <a:t>Financiación para la ejecución de un proyecto de 5 años de duración</a:t>
            </a:r>
            <a:r>
              <a:rPr lang="es-ES" dirty="0"/>
              <a:t>. Dotado de cuantía suficiente que permita la contratación de un predoctoral al menos durante 4 años. Incompatible con la convocatoria de Proyectos de Generación de Conocimiento (hasta año 4).</a:t>
            </a:r>
          </a:p>
          <a:p>
            <a:pPr>
              <a:lnSpc>
                <a:spcPct val="12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b="1" dirty="0"/>
              <a:t>Ayuda a la entidad beneficiaria para incentivar la creación de un puesto de trabajo permanente </a:t>
            </a:r>
            <a:r>
              <a:rPr lang="es-ES" dirty="0"/>
              <a:t>en el área de la persona beneficiaria, que además será un requisito obligatorio para cumplir con la ejecución de la ayuda.</a:t>
            </a:r>
          </a:p>
          <a:p>
            <a:endParaRPr lang="es-ES" dirty="0"/>
          </a:p>
        </p:txBody>
      </p:sp>
      <p:sp>
        <p:nvSpPr>
          <p:cNvPr id="7" name="Título 5">
            <a:extLst>
              <a:ext uri="{FF2B5EF4-FFF2-40B4-BE49-F238E27FC236}">
                <a16:creationId xmlns:a16="http://schemas.microsoft.com/office/drawing/2014/main" id="{7C1E2E65-6504-3B80-5038-64438062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681230" cy="604359"/>
          </a:xfrm>
        </p:spPr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los detalles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6272D4A9-C711-43E7-CA12-C040F39B7D35}"/>
              </a:ext>
            </a:extLst>
          </p:cNvPr>
          <p:cNvSpPr txBox="1">
            <a:spLocks/>
          </p:cNvSpPr>
          <p:nvPr/>
        </p:nvSpPr>
        <p:spPr>
          <a:xfrm>
            <a:off x="2454760" y="1236708"/>
            <a:ext cx="7282480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Conceptos financiables</a:t>
            </a:r>
          </a:p>
        </p:txBody>
      </p:sp>
    </p:spTree>
    <p:extLst>
      <p:ext uri="{BB962C8B-B14F-4D97-AF65-F5344CB8AC3E}">
        <p14:creationId xmlns:p14="http://schemas.microsoft.com/office/powerpoint/2010/main" val="14498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928FE6-58AE-7F3B-8F1A-DA657BE5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32AF13-E9E1-FEA8-9908-2C9D3BC97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505" y="2342707"/>
            <a:ext cx="10842260" cy="4216269"/>
          </a:xfrm>
          <a:solidFill>
            <a:srgbClr val="821317">
              <a:alpha val="5000"/>
            </a:srgb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Clr>
                <a:srgbClr val="FF0000"/>
              </a:buClr>
              <a:buNone/>
            </a:pPr>
            <a:r>
              <a:rPr lang="es-ES" sz="2600" dirty="0"/>
              <a:t>Para aquello/as </a:t>
            </a:r>
            <a:r>
              <a:rPr lang="es-ES" sz="2600" dirty="0" err="1"/>
              <a:t>IPs</a:t>
            </a:r>
            <a:r>
              <a:rPr lang="es-ES" sz="2600" dirty="0"/>
              <a:t> que durante los tres primeros años de ejecución de la ayuda </a:t>
            </a:r>
            <a:r>
              <a:rPr lang="es-ES" sz="2600" dirty="0" err="1"/>
              <a:t>RyC</a:t>
            </a:r>
            <a:r>
              <a:rPr lang="es-ES" sz="2600" dirty="0"/>
              <a:t> presenten una solicitud en las convocatorias del ERC:</a:t>
            </a:r>
          </a:p>
          <a:p>
            <a:pPr marL="914400" lvl="1" indent="-457200">
              <a:lnSpc>
                <a:spcPct val="120000"/>
              </a:lnSpc>
              <a:buClr>
                <a:srgbClr val="99161C"/>
              </a:buClr>
              <a:buFont typeface="+mj-lt"/>
              <a:buAutoNum type="alphaLcParenR"/>
            </a:pPr>
            <a:r>
              <a:rPr lang="es-ES" sz="2200" dirty="0"/>
              <a:t>ERC financiada: incremento de la ayuda para la cofinanciación del salario del IP en un 30%. </a:t>
            </a:r>
          </a:p>
          <a:p>
            <a:pPr marL="914400" lvl="1" indent="-457200">
              <a:lnSpc>
                <a:spcPct val="120000"/>
              </a:lnSpc>
              <a:buClr>
                <a:srgbClr val="99161C"/>
              </a:buClr>
              <a:buFont typeface="+mj-lt"/>
              <a:buAutoNum type="alphaLcParenR"/>
            </a:pPr>
            <a:r>
              <a:rPr lang="es-ES" sz="2200" dirty="0"/>
              <a:t>ERC con máxima calificación, pero sin financiación: habilitación del IP como elegible en Europa Excelencia modalidad A e incremento de la ayuda para la cofinanciación de su salario en un 10%.</a:t>
            </a:r>
          </a:p>
          <a:p>
            <a:pPr marL="914400" lvl="1" indent="-457200">
              <a:lnSpc>
                <a:spcPct val="120000"/>
              </a:lnSpc>
              <a:buClr>
                <a:srgbClr val="99161C"/>
              </a:buClr>
              <a:buFont typeface="+mj-lt"/>
              <a:buAutoNum type="alphaLcParenR"/>
            </a:pPr>
            <a:r>
              <a:rPr lang="es-ES" sz="2200" dirty="0"/>
              <a:t>ERC no ha obtenido la máxima calificación, pero ha pasado a la segunda fase en ERC: habilitación del IP como candidato elegible en la convocatoria Europa Excelencia modalidad B e incremento de la ayuda para la cofinanciación de su salario en un 10%. 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7" name="Título 5">
            <a:extLst>
              <a:ext uri="{FF2B5EF4-FFF2-40B4-BE49-F238E27FC236}">
                <a16:creationId xmlns:a16="http://schemas.microsoft.com/office/drawing/2014/main" id="{C43BD2BF-7558-4132-7952-195A7F79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681230" cy="604359"/>
          </a:xfrm>
        </p:spPr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los detalles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34D17200-2652-C44A-19FA-49B18399C13E}"/>
              </a:ext>
            </a:extLst>
          </p:cNvPr>
          <p:cNvSpPr txBox="1">
            <a:spLocks/>
          </p:cNvSpPr>
          <p:nvPr/>
        </p:nvSpPr>
        <p:spPr>
          <a:xfrm>
            <a:off x="1487488" y="1246521"/>
            <a:ext cx="9217023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Incentivación para la participación en convocatorias del ERC</a:t>
            </a:r>
          </a:p>
        </p:txBody>
      </p:sp>
    </p:spTree>
    <p:extLst>
      <p:ext uri="{BB962C8B-B14F-4D97-AF65-F5344CB8AC3E}">
        <p14:creationId xmlns:p14="http://schemas.microsoft.com/office/powerpoint/2010/main" val="24127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F0BD2F-C391-482C-0C80-08273DBB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6931EF-AE8E-1EC0-D7FA-9EC4DD40F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812" y="2342707"/>
            <a:ext cx="10532953" cy="451529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Clr>
                <a:srgbClr val="FF0000"/>
              </a:buClr>
              <a:buNone/>
            </a:pPr>
            <a:r>
              <a:rPr lang="es-ES" sz="3800" dirty="0"/>
              <a:t>En todos los casos, siempre que la evaluación del informe intermedio sea favorable:</a:t>
            </a:r>
          </a:p>
          <a:p>
            <a:pPr lvl="1">
              <a:lnSpc>
                <a:spcPct val="120000"/>
              </a:lnSpc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3200" dirty="0"/>
              <a:t>Se mantiene la ayuda a la entidad beneficiaria para incentivar la creación de un puesto permanente hasta la creación de la misma.</a:t>
            </a:r>
          </a:p>
          <a:p>
            <a:pPr lvl="1">
              <a:lnSpc>
                <a:spcPct val="120000"/>
              </a:lnSpc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3200" dirty="0"/>
              <a:t>Se mantiene la ayuda para la realización del proyecto hasta un límite máximo de cinco años desde el inicio de la ayuda </a:t>
            </a:r>
            <a:r>
              <a:rPr lang="es-ES" sz="3200" dirty="0" err="1"/>
              <a:t>RyC</a:t>
            </a:r>
            <a:r>
              <a:rPr lang="es-ES" sz="3200" dirty="0"/>
              <a:t>.</a:t>
            </a:r>
          </a:p>
          <a:p>
            <a:pPr lvl="1">
              <a:lnSpc>
                <a:spcPct val="120000"/>
              </a:lnSpc>
              <a:buClr>
                <a:srgbClr val="99161C"/>
              </a:buClr>
              <a:buFont typeface="Wingdings" panose="05000000000000000000" pitchFamily="2" charset="2"/>
              <a:buChar char="§"/>
            </a:pPr>
            <a:r>
              <a:rPr lang="es-ES" sz="3200" dirty="0"/>
              <a:t>La cuantía que, dentro del concepto de contratación del IP, no sea ejecutada como consecuencia de la creación del puesto de trabajo de carácter permanente podrá ser trasvasada a la ayuda correspondiente a la ejecución del proyecto. </a:t>
            </a:r>
          </a:p>
          <a:p>
            <a:pPr marL="0" indent="0">
              <a:lnSpc>
                <a:spcPct val="120000"/>
              </a:lnSpc>
              <a:buClr>
                <a:srgbClr val="FF0000"/>
              </a:buClr>
              <a:buNone/>
            </a:pPr>
            <a:r>
              <a:rPr lang="es-ES" sz="3800" dirty="0"/>
              <a:t>En el caso en que no se presente ninguna solicitud a las convocatorias del ERC durante los tres primeros años de la ayuda </a:t>
            </a:r>
            <a:r>
              <a:rPr lang="es-ES" sz="3800" dirty="0" err="1"/>
              <a:t>RyC</a:t>
            </a:r>
            <a:r>
              <a:rPr lang="es-ES" sz="3800" dirty="0"/>
              <a:t>, la ayuda para la cofinanciación del salario del IP no variará.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7" name="Título 5">
            <a:extLst>
              <a:ext uri="{FF2B5EF4-FFF2-40B4-BE49-F238E27FC236}">
                <a16:creationId xmlns:a16="http://schemas.microsoft.com/office/drawing/2014/main" id="{75B4B61D-9B71-E464-D7D1-12265B91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681230" cy="604359"/>
          </a:xfrm>
        </p:spPr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los detalles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FFEA0415-1E98-B8D2-B1CB-19EF643EACF7}"/>
              </a:ext>
            </a:extLst>
          </p:cNvPr>
          <p:cNvSpPr txBox="1">
            <a:spLocks/>
          </p:cNvSpPr>
          <p:nvPr/>
        </p:nvSpPr>
        <p:spPr>
          <a:xfrm>
            <a:off x="3308107" y="1225969"/>
            <a:ext cx="5575785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Ejecución de la ayuda </a:t>
            </a:r>
            <a:r>
              <a:rPr lang="es-ES" dirty="0" err="1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RyC</a:t>
            </a:r>
            <a:endParaRPr lang="es-ES" dirty="0">
              <a:solidFill>
                <a:srgbClr val="99161C"/>
              </a:solidFill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529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9BD362-8E73-4FC9-9B69-051AFA17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5E0FA3-7F38-ABF1-FD9E-B72BF27C8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811" y="2561651"/>
            <a:ext cx="10532953" cy="3272482"/>
          </a:xfrm>
          <a:solidFill>
            <a:srgbClr val="7C1517">
              <a:alpha val="5000"/>
            </a:srgbClr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sz="2000" dirty="0"/>
              <a:t>Se mantienen los mismos criterios de elegibilidad para la persona candidata que los actuales.</a:t>
            </a:r>
          </a:p>
          <a:p>
            <a:pPr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sz="2000" dirty="0"/>
              <a:t>Se mantienen las mismas entidades beneficiarias que las actuales.</a:t>
            </a:r>
          </a:p>
          <a:p>
            <a:pPr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sz="2000" dirty="0"/>
              <a:t>Se mantiene el mismo sistema de solicitud que en la actualidad:</a:t>
            </a:r>
            <a:endParaRPr lang="es-ES" sz="800" dirty="0"/>
          </a:p>
          <a:p>
            <a:pPr lvl="1">
              <a:lnSpc>
                <a:spcPct val="100000"/>
              </a:lnSpc>
              <a:buClr>
                <a:srgbClr val="7C1517"/>
              </a:buClr>
              <a:buFont typeface="Arial" panose="020B0604020202020204" pitchFamily="34" charset="0"/>
              <a:buChar char="‒"/>
            </a:pPr>
            <a:r>
              <a:rPr lang="es-ES" sz="2000" dirty="0"/>
              <a:t>Solicitudes de los centros ofertando plazas.</a:t>
            </a:r>
          </a:p>
          <a:p>
            <a:pPr lvl="1">
              <a:lnSpc>
                <a:spcPct val="100000"/>
              </a:lnSpc>
              <a:buClr>
                <a:srgbClr val="7C1517"/>
              </a:buClr>
              <a:buFont typeface="Arial" panose="020B0604020202020204" pitchFamily="34" charset="0"/>
              <a:buChar char="‒"/>
            </a:pPr>
            <a:r>
              <a:rPr lang="es-ES" sz="2000" dirty="0"/>
              <a:t>Solicitudes de las personas solicitantes acompañadas de información sobre los recursos que deberían existir en el centro de acogida par</a:t>
            </a:r>
            <a:r>
              <a:rPr lang="es-ES" sz="2000" dirty="0">
                <a:solidFill>
                  <a:srgbClr val="0B3E91"/>
                </a:solidFill>
              </a:rPr>
              <a:t>a</a:t>
            </a:r>
            <a:r>
              <a:rPr lang="es-ES" sz="2000" dirty="0"/>
              <a:t> llevar a cabo su proyecto.</a:t>
            </a:r>
          </a:p>
          <a:p>
            <a:pPr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‒"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</p:txBody>
      </p:sp>
      <p:sp>
        <p:nvSpPr>
          <p:cNvPr id="7" name="Título 5">
            <a:extLst>
              <a:ext uri="{FF2B5EF4-FFF2-40B4-BE49-F238E27FC236}">
                <a16:creationId xmlns:a16="http://schemas.microsoft.com/office/drawing/2014/main" id="{B7C0E34E-8574-4A37-F46E-78BD1789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681230" cy="604359"/>
          </a:xfrm>
        </p:spPr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los detalles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0DE3737B-5B8A-8E3D-354B-394091435100}"/>
              </a:ext>
            </a:extLst>
          </p:cNvPr>
          <p:cNvSpPr txBox="1">
            <a:spLocks/>
          </p:cNvSpPr>
          <p:nvPr/>
        </p:nvSpPr>
        <p:spPr>
          <a:xfrm>
            <a:off x="3308107" y="1255247"/>
            <a:ext cx="5575785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Elegibilidad y proceso de solicitud</a:t>
            </a:r>
          </a:p>
        </p:txBody>
      </p:sp>
    </p:spTree>
    <p:extLst>
      <p:ext uri="{BB962C8B-B14F-4D97-AF65-F5344CB8AC3E}">
        <p14:creationId xmlns:p14="http://schemas.microsoft.com/office/powerpoint/2010/main" val="2325829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BB2795-5D5C-443B-72F0-883BC485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9A4AA6-A53B-C197-C117-2CF132DAA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69465" y="3646096"/>
            <a:ext cx="3886790" cy="1201956"/>
          </a:xfrm>
          <a:solidFill>
            <a:srgbClr val="99161C">
              <a:alpha val="5000"/>
            </a:srgb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buClr>
                <a:srgbClr val="7C1517"/>
              </a:buClr>
            </a:pPr>
            <a:r>
              <a:rPr lang="es-ES" sz="2000" dirty="0"/>
              <a:t>Grado de independencia y liderazgo.</a:t>
            </a:r>
          </a:p>
          <a:p>
            <a:pPr>
              <a:lnSpc>
                <a:spcPct val="100000"/>
              </a:lnSpc>
              <a:buClr>
                <a:srgbClr val="7C1517"/>
              </a:buClr>
            </a:pPr>
            <a:r>
              <a:rPr lang="es-ES" sz="2000" dirty="0"/>
              <a:t>Viabilidad de la propuesta de proyecto de investigación.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981B7C-54A7-EA2B-284E-A03B878F9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379" y="3279287"/>
            <a:ext cx="4675701" cy="2210354"/>
          </a:xfrm>
          <a:solidFill>
            <a:srgbClr val="821317">
              <a:alpha val="5000"/>
            </a:srgbClr>
          </a:solidFill>
        </p:spPr>
        <p:txBody>
          <a:bodyPr/>
          <a:lstStyle/>
          <a:p>
            <a:pPr>
              <a:lnSpc>
                <a:spcPct val="100000"/>
              </a:lnSpc>
              <a:buClr>
                <a:srgbClr val="7C1517"/>
              </a:buClr>
            </a:pPr>
            <a:r>
              <a:rPr lang="es-ES" sz="2000" dirty="0"/>
              <a:t>Aportaciones científico-técnicas del candidato/a.</a:t>
            </a:r>
          </a:p>
          <a:p>
            <a:pPr>
              <a:lnSpc>
                <a:spcPct val="100000"/>
              </a:lnSpc>
              <a:buClr>
                <a:srgbClr val="7C1517"/>
              </a:buClr>
            </a:pPr>
            <a:r>
              <a:rPr lang="es-ES" sz="2000" dirty="0"/>
              <a:t>Calidad y novedad de la propuesta de proyecto de investigación.</a:t>
            </a:r>
          </a:p>
          <a:p>
            <a:pPr>
              <a:lnSpc>
                <a:spcPct val="100000"/>
              </a:lnSpc>
              <a:buClr>
                <a:srgbClr val="7C1517"/>
              </a:buClr>
            </a:pPr>
            <a:r>
              <a:rPr lang="es-ES" sz="2000" dirty="0"/>
              <a:t>Impacto científico, económico y social esperado de los resultados.</a:t>
            </a:r>
          </a:p>
          <a:p>
            <a:endParaRPr lang="es-ES" dirty="0"/>
          </a:p>
        </p:txBody>
      </p:sp>
      <p:sp>
        <p:nvSpPr>
          <p:cNvPr id="12" name="Título 5">
            <a:extLst>
              <a:ext uri="{FF2B5EF4-FFF2-40B4-BE49-F238E27FC236}">
                <a16:creationId xmlns:a16="http://schemas.microsoft.com/office/drawing/2014/main" id="{14953D81-379D-C114-7615-9001EE50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10" y="299024"/>
            <a:ext cx="8681230" cy="604359"/>
          </a:xfrm>
        </p:spPr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los detalles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3293EEB-6AFC-5FD8-A79D-4ED727916141}"/>
              </a:ext>
            </a:extLst>
          </p:cNvPr>
          <p:cNvSpPr/>
          <p:nvPr/>
        </p:nvSpPr>
        <p:spPr>
          <a:xfrm>
            <a:off x="7304838" y="3135994"/>
            <a:ext cx="4267593" cy="2617390"/>
          </a:xfrm>
          <a:prstGeom prst="roundRect">
            <a:avLst/>
          </a:prstGeom>
          <a:noFill/>
          <a:ln>
            <a:solidFill>
              <a:srgbClr val="821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B519E5-3309-8FC3-0284-A680A470C625}"/>
              </a:ext>
            </a:extLst>
          </p:cNvPr>
          <p:cNvSpPr txBox="1"/>
          <p:nvPr/>
        </p:nvSpPr>
        <p:spPr>
          <a:xfrm>
            <a:off x="8076364" y="4904865"/>
            <a:ext cx="28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99161C"/>
                </a:solidFill>
              </a:rPr>
              <a:t>ENTREVISTA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F903529-997D-D82B-BA0C-C2CD8D83CF3B}"/>
              </a:ext>
            </a:extLst>
          </p:cNvPr>
          <p:cNvSpPr/>
          <p:nvPr/>
        </p:nvSpPr>
        <p:spPr>
          <a:xfrm>
            <a:off x="488752" y="3160350"/>
            <a:ext cx="5039494" cy="2503034"/>
          </a:xfrm>
          <a:prstGeom prst="roundRect">
            <a:avLst/>
          </a:prstGeom>
          <a:noFill/>
          <a:ln>
            <a:solidFill>
              <a:srgbClr val="7C15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14F07B75-0C57-2A53-8FE2-FDF801F91487}"/>
              </a:ext>
            </a:extLst>
          </p:cNvPr>
          <p:cNvSpPr/>
          <p:nvPr/>
        </p:nvSpPr>
        <p:spPr>
          <a:xfrm>
            <a:off x="5844902" y="3894066"/>
            <a:ext cx="1214263" cy="780687"/>
          </a:xfrm>
          <a:prstGeom prst="rightArrow">
            <a:avLst/>
          </a:prstGeom>
          <a:solidFill>
            <a:srgbClr val="99161C"/>
          </a:solidFill>
          <a:ln>
            <a:solidFill>
              <a:srgbClr val="821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F0CB4865-1475-9AC8-F55F-F1C1E7D67EDA}"/>
              </a:ext>
            </a:extLst>
          </p:cNvPr>
          <p:cNvSpPr txBox="1">
            <a:spLocks/>
          </p:cNvSpPr>
          <p:nvPr/>
        </p:nvSpPr>
        <p:spPr>
          <a:xfrm>
            <a:off x="3308107" y="1253053"/>
            <a:ext cx="5575785" cy="823912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Evaluación: proceso y criterios</a:t>
            </a:r>
          </a:p>
        </p:txBody>
      </p:sp>
    </p:spTree>
    <p:extLst>
      <p:ext uri="{BB962C8B-B14F-4D97-AF65-F5344CB8AC3E}">
        <p14:creationId xmlns:p14="http://schemas.microsoft.com/office/powerpoint/2010/main" val="2747053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56F485-70DF-F083-B074-86584744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879F882-0FC1-BD75-DA1C-457211E1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99161C"/>
                </a:solidFill>
              </a:rPr>
              <a:t>Novedades </a:t>
            </a:r>
            <a:r>
              <a:rPr lang="es-ES" b="1" dirty="0" err="1">
                <a:solidFill>
                  <a:srgbClr val="99161C"/>
                </a:solidFill>
              </a:rPr>
              <a:t>RyC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8B72842-2D48-6F23-83F5-9A9C810E4900}"/>
              </a:ext>
            </a:extLst>
          </p:cNvPr>
          <p:cNvSpPr txBox="1">
            <a:spLocks/>
          </p:cNvSpPr>
          <p:nvPr/>
        </p:nvSpPr>
        <p:spPr>
          <a:xfrm>
            <a:off x="3529186" y="3083893"/>
            <a:ext cx="5133627" cy="690214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800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El impacto</a:t>
            </a:r>
          </a:p>
        </p:txBody>
      </p:sp>
    </p:spTree>
    <p:extLst>
      <p:ext uri="{BB962C8B-B14F-4D97-AF65-F5344CB8AC3E}">
        <p14:creationId xmlns:p14="http://schemas.microsoft.com/office/powerpoint/2010/main" val="3429965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97E029-56A3-9CA5-F442-912B23A8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24D833E2-9DCA-5C1D-7B18-4138901D4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60830" y="2880423"/>
            <a:ext cx="8470327" cy="2895438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Fortalecimiento de la carrera del investigador/a.</a:t>
            </a:r>
          </a:p>
          <a:p>
            <a:pPr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Efecto tractor para atraer talento y recursos.</a:t>
            </a:r>
          </a:p>
          <a:p>
            <a:pPr lvl="0"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Importante beneficio para las instituciones del sistema: más talento, más recursos y, en definitiva, mayor prestigio.</a:t>
            </a:r>
          </a:p>
          <a:p>
            <a:pPr lvl="0">
              <a:lnSpc>
                <a:spcPct val="100000"/>
              </a:lnSpc>
              <a:buClr>
                <a:srgbClr val="7C1517"/>
              </a:buClr>
              <a:buFont typeface="Wingdings" panose="05000000000000000000" pitchFamily="2" charset="2"/>
              <a:buChar char="§"/>
            </a:pPr>
            <a:r>
              <a:rPr lang="es-ES" sz="2400" dirty="0"/>
              <a:t>Salto cualitativo para situarnos en Europa donde nos corresponde de acuerdo con nuestro tamaño.</a:t>
            </a: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None/>
            </a:pPr>
            <a:endParaRPr lang="es-ES" sz="2400" dirty="0"/>
          </a:p>
        </p:txBody>
      </p:sp>
      <p:sp>
        <p:nvSpPr>
          <p:cNvPr id="12" name="Título 5">
            <a:extLst>
              <a:ext uri="{FF2B5EF4-FFF2-40B4-BE49-F238E27FC236}">
                <a16:creationId xmlns:a16="http://schemas.microsoft.com/office/drawing/2014/main" id="{165BA821-AF01-F648-8830-A756CBC4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1" dirty="0">
                <a:solidFill>
                  <a:srgbClr val="99161C"/>
                </a:solidFill>
              </a:rPr>
              <a:t>Novedades </a:t>
            </a:r>
            <a:r>
              <a:rPr lang="es-ES" sz="3200" b="1" dirty="0" err="1">
                <a:solidFill>
                  <a:srgbClr val="99161C"/>
                </a:solidFill>
              </a:rPr>
              <a:t>RyC</a:t>
            </a:r>
            <a:r>
              <a:rPr lang="es-ES" sz="3200" b="1" dirty="0">
                <a:solidFill>
                  <a:srgbClr val="99161C"/>
                </a:solidFill>
              </a:rPr>
              <a:t>: el impacto</a:t>
            </a:r>
            <a:endParaRPr lang="es-ES" b="1" dirty="0">
              <a:solidFill>
                <a:srgbClr val="99161C"/>
              </a:solidFill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6322FB00-372A-AC01-E70D-1D117B002889}"/>
              </a:ext>
            </a:extLst>
          </p:cNvPr>
          <p:cNvSpPr txBox="1">
            <a:spLocks/>
          </p:cNvSpPr>
          <p:nvPr/>
        </p:nvSpPr>
        <p:spPr>
          <a:xfrm>
            <a:off x="829516" y="1201689"/>
            <a:ext cx="10532953" cy="690214"/>
          </a:xfrm>
          <a:prstGeom prst="rect">
            <a:avLst/>
          </a:prstGeom>
          <a:noFill/>
          <a:ln w="28575">
            <a:solidFill>
              <a:srgbClr val="821317"/>
            </a:solidFill>
          </a:ln>
          <a:effectLst/>
        </p:spPr>
        <p:txBody>
          <a:bodyPr vert="horz" lIns="108000" tIns="251999" rIns="108000" bIns="36000" rtlCol="0" anchor="b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800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Entorno propicio para el desarrollo del liderazgo científico emergente</a:t>
            </a:r>
          </a:p>
        </p:txBody>
      </p:sp>
    </p:spTree>
    <p:extLst>
      <p:ext uri="{BB962C8B-B14F-4D97-AF65-F5344CB8AC3E}">
        <p14:creationId xmlns:p14="http://schemas.microsoft.com/office/powerpoint/2010/main" val="1243412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5B9E4D-E5EF-BE7A-EFCC-5C1C03F4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81079D4-D3CA-71A0-8716-90920B011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00254" y="3126820"/>
            <a:ext cx="5991492" cy="604359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buClr>
                <a:srgbClr val="FF0000"/>
              </a:buClr>
              <a:buNone/>
            </a:pPr>
            <a:r>
              <a:rPr lang="es-ES" b="1" dirty="0">
                <a:solidFill>
                  <a:srgbClr val="99161C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Muchas gracias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47952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llant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A2A26191-E6D3-4F81-85BE-1666A3B89A56}" vid="{5C4D41DF-02A3-4578-93E1-A94D56FC6DF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1FDF6977E4FD44B95D64B3FD69A58FF" ma:contentTypeVersion="13" ma:contentTypeDescription="Crear nuevo documento." ma:contentTypeScope="" ma:versionID="5b0471a51cf4079e28e3af96763a88ba">
  <xsd:schema xmlns:xsd="http://www.w3.org/2001/XMLSchema" xmlns:xs="http://www.w3.org/2001/XMLSchema" xmlns:p="http://schemas.microsoft.com/office/2006/metadata/properties" xmlns:ns2="cd7b0cb9-819c-472b-ac00-f0d01af66b27" xmlns:ns3="bc1e5928-6e8c-42d3-91a2-8f7656eef016" targetNamespace="http://schemas.microsoft.com/office/2006/metadata/properties" ma:root="true" ma:fieldsID="8577d2d4466962899ee6ff05266fef0e" ns2:_="" ns3:_="">
    <xsd:import namespace="cd7b0cb9-819c-472b-ac00-f0d01af66b27"/>
    <xsd:import namespace="bc1e5928-6e8c-42d3-91a2-8f7656eef0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7b0cb9-819c-472b-ac00-f0d01af66b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a48e1093-9b93-4154-8799-542bec461b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e5928-6e8c-42d3-91a2-8f7656eef01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d5e48d-ff52-4882-ac8f-6377fb9ff420}" ma:internalName="TaxCatchAll" ma:showField="CatchAllData" ma:web="bc1e5928-6e8c-42d3-91a2-8f7656eef0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7b0cb9-819c-472b-ac00-f0d01af66b27">
      <Terms xmlns="http://schemas.microsoft.com/office/infopath/2007/PartnerControls"/>
    </lcf76f155ced4ddcb4097134ff3c332f>
    <TaxCatchAll xmlns="bc1e5928-6e8c-42d3-91a2-8f7656eef016" xsi:nil="true"/>
  </documentManagement>
</p:properties>
</file>

<file path=customXml/itemProps1.xml><?xml version="1.0" encoding="utf-8"?>
<ds:datastoreItem xmlns:ds="http://schemas.openxmlformats.org/officeDocument/2006/customXml" ds:itemID="{A4871626-39B3-44F0-A1D5-E0D01E9BBFB5}"/>
</file>

<file path=customXml/itemProps2.xml><?xml version="1.0" encoding="utf-8"?>
<ds:datastoreItem xmlns:ds="http://schemas.openxmlformats.org/officeDocument/2006/customXml" ds:itemID="{9539F608-F389-496D-8997-6C55BF7D4B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4FFB7B-EEE0-4136-A398-FA49E341E141}">
  <ds:schemaRefs>
    <ds:schemaRef ds:uri="http://schemas.microsoft.com/office/2006/metadata/properties"/>
    <ds:schemaRef ds:uri="http://schemas.microsoft.com/office/infopath/2007/PartnerControls"/>
    <ds:schemaRef ds:uri="1f63852d-3fa9-4e45-b451-5f9c13bbaee9"/>
    <ds:schemaRef ds:uri="baab5624-7d32-4628-af50-1d4e0a96c93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4266</TotalTime>
  <Words>987</Words>
  <Application>Microsoft Office PowerPoint</Application>
  <PresentationFormat>Panorámica</PresentationFormat>
  <Paragraphs>155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Aptos Narrow</vt:lpstr>
      <vt:lpstr>Arial</vt:lpstr>
      <vt:lpstr>Calibri</vt:lpstr>
      <vt:lpstr>Myanmar Text</vt:lpstr>
      <vt:lpstr>Wingdings</vt:lpstr>
      <vt:lpstr>Tema de Office</vt:lpstr>
      <vt:lpstr>Presentación de PowerPoint</vt:lpstr>
      <vt:lpstr>Novedades RyC</vt:lpstr>
      <vt:lpstr>Novedades RyC</vt:lpstr>
      <vt:lpstr>Novedades RyC: los motivos</vt:lpstr>
      <vt:lpstr>Novedades RyC: los motivos</vt:lpstr>
      <vt:lpstr>Novedades RyC: los motivos</vt:lpstr>
      <vt:lpstr>Novedades RyC</vt:lpstr>
      <vt:lpstr>Novedades RyC: las modificaciones</vt:lpstr>
      <vt:lpstr>Novedades RyC: las modificaciones</vt:lpstr>
      <vt:lpstr>Novedades RyC</vt:lpstr>
      <vt:lpstr>Novedades RyC: los detalles</vt:lpstr>
      <vt:lpstr>Novedades RyC: los detalles</vt:lpstr>
      <vt:lpstr>Novedades RyC: los detalles</vt:lpstr>
      <vt:lpstr>Novedades RyC: los detalles</vt:lpstr>
      <vt:lpstr>Novedades RyC: los detalles</vt:lpstr>
      <vt:lpstr>Novedades RyC</vt:lpstr>
      <vt:lpstr>Novedades RyC: el impacto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Armesto Lopez, M.Lourdes</dc:creator>
  <cp:lastModifiedBy>Fernández de Labastida del Olmo, José Manuel</cp:lastModifiedBy>
  <cp:revision>27</cp:revision>
  <cp:lastPrinted>2026-02-10T14:44:35Z</cp:lastPrinted>
  <dcterms:created xsi:type="dcterms:W3CDTF">2025-11-23T17:36:47Z</dcterms:created>
  <dcterms:modified xsi:type="dcterms:W3CDTF">2026-02-17T15:24:31Z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0x01010041FDF6977E4FD44B95D64B3FD69A58FF</vt:lpwstr>
  </property>
</Properties>
</file>